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FC9BB"/>
                </a:solidFill>
                <a:latin typeface="Aptos"/>
              </a:rPr>
              <a:t>INDMONEY GROWTH ·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Why first-time SIPs lapse by month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9E6E1"/>
                </a:solidFill>
                <a:latin typeface="Aptos"/>
              </a:rPr>
              <a:t>A public-evidence engine for finding the moments that break the habit — and the interventions that keep it alive.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FC9BB"/>
                </a:solidFill>
                <a:latin typeface="Aptos"/>
              </a:rPr>
              <a:t>8,115 public documents · 1,726 strict SIP/MF candidates · 1,726 deep-coded · 334 grounded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D9E6E1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The retention problem is a sequence of moments, not a single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The strongest lapse-associated theme is cash-flow shocks and competing commitments: 14 signals, 100% lapse rate among resolved outcomes.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System friction is the most fixable: failed mandates/debits and cancellation mazes create lapses the investor did not choose.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Market noise is high-reach but not uniformly harmful: many investors continue through drawdowns when they have a goal and a habit.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Three plays: mandate rescue, pause-don't-stop, and a cancellation path that works. All are workflow and clarity, not fund recommendations.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Measure one thing: at least one successful instalment in the last 30 days, 12 months after the first SIP.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770"/>
                </a:solidFill>
                <a:latin typeface="Aptos"/>
              </a:rPr>
              <a:t>Directional public evidence; associations are not causal.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Nine discovery questions, nine evidence-backed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1521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3268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the evidence says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1. Who starts?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Salaried first-time investors, often 20s–30s, starting small. Segment evidence is sparse; treat as directional.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2. What do they expect?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Steady, FD-like, or market-beating returns. The first flat period is an expectation shock.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3. What happens in the first 30 days?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KYC, mandate, first debit, and NAV/date confusion. Confusion is the most common coded emotion.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4. What triggers a pause or stop?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Cash-flow shocks, job changes, competing goals, drawdowns, and app/cancellation friction.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5. How does volatility affect them?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It raises checking and anxiety for some; others continue through drawdowns with a goal and a habit.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6. What role do cash-flow shocks play?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Cash-flow shock: 14 signals, 100% lapse among resolved outcomes. The SIP was affordable last month, not this month.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7. What role do platforms play?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Failed mandates, debit issues, cancellation mazes, and support gaps create system-forced lapses.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8. Which segments are at risk?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Directionally, early-stage and cash-flow-constrained investors. Segment cues are sparse; app reviews overrepresent friction.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9. What would make them stay?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Pause instead of stop, mandate rescue, goal progress, human support, and expectation-setting.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From 8,000+ public posts to a grounded evidence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19797"/>
            <a:ext cx="6492240" cy="2715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173736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8,115 documents from six sources: Play Store, App Store, Reddit, YouTube, ValuePickr, TradingQ&amp;A.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1,726 strict SIP/mutual-fund candidates; 1,726 deep-coded with a free-tier LLM.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Every behavioural quote is verified against the source; unsupported codes are dropped by deterministic grounding.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Includes competitor app reviews to learn category-wide friction; INDmoney-specific views are filterable in the dashboard.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Counts, prevalence, statistics, and opportunity scores are computed in Python/SQL, not by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WHAT WE HEARD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Where the retention opportunity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them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9479"/>
            <a:ext cx="6492240" cy="36163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173736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Top problem themes: Failed debits and mandate breakage, Can't stop or fix it, Cash-flow shocks and competing commitments.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The protective theme — what keeps SIPs alive — is shown separately in sand.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Opportunity score combines reach, lapse lift, evidence strength, solvability, and effort.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Themes with unresolved outcomes carry a friction prior and are marked n/a in the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01 · SYSTEM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Failed debits and mandate breakage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59</a:t>
            </a:r>
          </a:p>
          <a:p>
            <a:r>
              <a:rPr sz="800">
                <a:solidFill>
                  <a:srgbClr val="5B6770"/>
                </a:solidFill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59</a:t>
            </a:r>
          </a:p>
          <a:p>
            <a:r>
              <a:rPr sz="800">
                <a:solidFill>
                  <a:srgbClr val="5B6770"/>
                </a:solidFill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n/a</a:t>
            </a:r>
          </a:p>
          <a:p>
            <a:r>
              <a:rPr sz="800">
                <a:solidFill>
                  <a:srgbClr val="5B6770"/>
                </a:solidFill>
              </a:rPr>
              <a:t>LAPSE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70.7</a:t>
            </a:r>
          </a:p>
          <a:p>
            <a:r>
              <a:rPr sz="800">
                <a:solidFill>
                  <a:srgbClr val="5B6770"/>
                </a:solidFill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For many investors, the SIP did not fail because they gave up; the debit did.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Signals include UPI Autopay confusion, eNach failures, bank blocks, and silent missed instalments.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The fix is pre-debit visibility and a repair path, not another reminder to invest.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“When I opened my MFU account and tried to use the ePayEezz mandate, following massage is showing- " Consequent to communication received from NPCI asking us to stop the e-NACH through e-sign process at MFU, we are constrained to discontinue ePayEezz...”</a:t>
            </a:r>
          </a:p>
          <a:p>
            <a:r>
              <a:rPr sz="800">
                <a:solidFill>
                  <a:srgbClr val="5B6770"/>
                </a:solidFill>
              </a:rPr>
              <a:t>reddit · outcome=unknown · stage=m0_setup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“I used to do SIP in college with my internship money. 15k stipend, 4k SIP. 1 month, the stipend got delayed by 2 days. Guess what. I didn't even have money to eat a sandwich for 2 days. The SIP autodeducted the money. Worse yet? It wasn't enough to cover...”</a:t>
            </a:r>
          </a:p>
          <a:p>
            <a:r>
              <a:rPr sz="800">
                <a:solidFill>
                  <a:srgbClr val="5B6770"/>
                </a:solidFill>
              </a:rPr>
              <a:t>reddit · outcome=unknown · stage=unknown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9893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6F5C"/>
                </a:solidFill>
              </a:rPr>
              <a:t>Fix: A pre-debit health check that flags a weak mandate, low balance, or bank issue. A three-day pre-debit alert with a one-tap repair or top-up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02 · AFFORDABILITY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Cash-flow shocks and competing commitments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14</a:t>
            </a:r>
          </a:p>
          <a:p>
            <a:r>
              <a:rPr sz="800">
                <a:solidFill>
                  <a:srgbClr val="5B6770"/>
                </a:solidFill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14</a:t>
            </a:r>
          </a:p>
          <a:p>
            <a:r>
              <a:rPr sz="800">
                <a:solidFill>
                  <a:srgbClr val="5B6770"/>
                </a:solidFill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100%</a:t>
            </a:r>
          </a:p>
          <a:p>
            <a:r>
              <a:rPr sz="800">
                <a:solidFill>
                  <a:srgbClr val="5B6770"/>
                </a:solidFill>
              </a:rPr>
              <a:t>LAPSE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52.5</a:t>
            </a:r>
          </a:p>
          <a:p>
            <a:r>
              <a:rPr sz="800">
                <a:solidFill>
                  <a:srgbClr val="5B6770"/>
                </a:solidFill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The SIP was affordable last month, not this month.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Job changes, salary delays, medical expenses, house/wedding goals, and income volatility.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A pause or step-down preserves the habit; a permanent stop loses the investor.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“I have reduced my MF SIP to 10k per month so that I can save on the house fund.”</a:t>
            </a:r>
          </a:p>
          <a:p>
            <a:r>
              <a:rPr sz="800">
                <a:solidFill>
                  <a:srgbClr val="5B6770"/>
                </a:solidFill>
              </a:rPr>
              <a:t>reddit · outcome=reduced · stage=unknown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“Whenever I saw some expenses coming up, I would stop my investments for a month or two and then resume.”</a:t>
            </a:r>
          </a:p>
          <a:p>
            <a:r>
              <a:rPr sz="800">
                <a:solidFill>
                  <a:srgbClr val="5B6770"/>
                </a:solidFill>
              </a:rPr>
              <a:t>reddit · outcome=unknown · stage=unknown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9893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6F5C"/>
                </a:solidFill>
              </a:rPr>
              <a:t>Fix: A 1-3 month pause with automatic resume, instead of a permanent stop. A step-down amount that preserves the habit through a temporary squeeze.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03 ·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Can't stop or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38</a:t>
            </a:r>
          </a:p>
          <a:p>
            <a:r>
              <a:rPr sz="800">
                <a:solidFill>
                  <a:srgbClr val="5B6770"/>
                </a:solidFill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38</a:t>
            </a:r>
          </a:p>
          <a:p>
            <a:r>
              <a:rPr sz="800">
                <a:solidFill>
                  <a:srgbClr val="5B6770"/>
                </a:solidFill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89%</a:t>
            </a:r>
          </a:p>
          <a:p>
            <a:r>
              <a:rPr sz="800">
                <a:solidFill>
                  <a:srgbClr val="5B6770"/>
                </a:solidFill>
              </a:rPr>
              <a:t>LAPSE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65.8</a:t>
            </a:r>
          </a:p>
          <a:p>
            <a:r>
              <a:rPr sz="800">
                <a:solidFill>
                  <a:srgbClr val="5B6770"/>
                </a:solidFill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Investors try to cancel, pause, or repair a SIP and the flow does not work.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Signals include 'still active', 'money got deducted', missing support, and unclear effective dates.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A pause option beside cancel and a status tracker turn a dead end into a save.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“I requested to cancel my monthly SIPs around Jan 25, but the Feb 1 SIP was still active and the money got deducted.”</a:t>
            </a:r>
          </a:p>
          <a:p>
            <a:r>
              <a:rPr sz="800">
                <a:solidFill>
                  <a:srgbClr val="5B6770"/>
                </a:solidFill>
              </a:rPr>
              <a:t>reddit · outcome=unknown · stage=unknown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“I want to temporarily pause this month's SIP deduction. I cannot find any pause option on the website. Can anyone help me how to exactly pause (not permanently cancel/delete) my SIP?”</a:t>
            </a:r>
          </a:p>
          <a:p>
            <a:r>
              <a:rPr sz="800">
                <a:solidFill>
                  <a:srgbClr val="5B6770"/>
                </a:solidFill>
              </a:rPr>
              <a:t>reddit · outcome=paused · stage=unknown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9893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6F5C"/>
                </a:solidFill>
              </a:rPr>
              <a:t>Fix: A pause option beside cancel, with a clear effective date and one-tap resume. A cancellation status tracker: requested, effective, refunded, closed.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04 ·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Market noise and loss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31</a:t>
            </a:r>
          </a:p>
          <a:p>
            <a:r>
              <a:rPr sz="800">
                <a:solidFill>
                  <a:srgbClr val="5B6770"/>
                </a:solidFill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31</a:t>
            </a:r>
          </a:p>
          <a:p>
            <a:r>
              <a:rPr sz="800">
                <a:solidFill>
                  <a:srgbClr val="5B6770"/>
                </a:solidFill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55%</a:t>
            </a:r>
          </a:p>
          <a:p>
            <a:r>
              <a:rPr sz="800">
                <a:solidFill>
                  <a:srgbClr val="5B6770"/>
                </a:solidFill>
              </a:rPr>
              <a:t>LAPSE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42.9</a:t>
            </a:r>
          </a:p>
          <a:p>
            <a:r>
              <a:rPr sz="800">
                <a:solidFill>
                  <a:srgbClr val="5B6770"/>
                </a:solidFill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A red portfolio is not automatically a lapse; the meaning the investor assigns to it matters.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Some stop; others continue because they have a goal, a habit, or a human to talk to.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Show goal progress and the trade-off, not fear or urgency.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“Now at the 3 year mark, my overall portfolio is 5% XIRR, and 3 of the above funds have changed rating from 5-&gt;3/2. I wanted to know a few things: If I should stop SIP in the existing schemes and start the SIP in different schemes”</a:t>
            </a:r>
          </a:p>
          <a:p>
            <a:r>
              <a:rPr sz="800">
                <a:solidFill>
                  <a:srgbClr val="5B6770"/>
                </a:solidFill>
              </a:rPr>
              <a:t>reddit · outcome=unknown · stage=m9_late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“Never stopped my SIP even for one month. That's it. That's literally it. I just invested straight through the long flat period of 2018-19 and through COVID.”</a:t>
            </a:r>
          </a:p>
          <a:p>
            <a:r>
              <a:rPr sz="800">
                <a:solidFill>
                  <a:srgbClr val="5B6770"/>
                </a:solidFill>
              </a:rPr>
              <a:t>reddit · outcome=continues · stage=unknown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9893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6F5C"/>
                </a:solidFill>
              </a:rPr>
              <a:t>Fix: A drawdown explainer that shows goal progress, not only the return number. A 'what happens if you stop' calculator, framed as a trade-off, not a threat.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05 · FORCED PAUSES AND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Sometimes the system pauses the SIP — and the investor never finds out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Forced pauses: AMC, platform, or regulator restrictions; the investor did not choose to stop.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Product confusion: direct vs regular, NAV, fund category, and 'which fund is actually debited?'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Both are clarity problems: explain the reason, the duration, the next step, and the auto-resume.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No specific fund recommendations; compare categories and mechanics, not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770"/>
                </a:solidFill>
                <a:latin typeface="Aptos"/>
              </a:rPr>
              <a:t>Forced pause signals: 7; product confusion: 1. Small n, high fixability.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THEME 06 ·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What keeps SIPs alive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49</a:t>
            </a:r>
          </a:p>
          <a:p>
            <a:r>
              <a:rPr sz="800">
                <a:solidFill>
                  <a:srgbClr val="5B6770"/>
                </a:solidFill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49</a:t>
            </a:r>
          </a:p>
          <a:p>
            <a:r>
              <a:rPr sz="800">
                <a:solidFill>
                  <a:srgbClr val="5B6770"/>
                </a:solidFill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0%</a:t>
            </a:r>
          </a:p>
          <a:p>
            <a:r>
              <a:rPr sz="800">
                <a:solidFill>
                  <a:srgbClr val="5B6770"/>
                </a:solidFill>
              </a:rPr>
              <a:t>LAPSE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1325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F5C"/>
                </a:solidFill>
              </a:rPr>
              <a:t>53.8</a:t>
            </a:r>
          </a:p>
          <a:p>
            <a:r>
              <a:rPr sz="800">
                <a:solidFill>
                  <a:srgbClr val="5B6770"/>
                </a:solidFill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Continuation is not passive. It is a goal, a habit, a support system, and a reason to stay.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Investors describe continuing through COVID, flat periods, and job changes.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>
                <a:solidFill>
                  <a:srgbClr val="17324D"/>
                </a:solidFill>
                <a:latin typeface="Aptos"/>
              </a:rPr>
              <a:t>•  Protect these moments: goal progress, streaks, community stories, and human encouragement.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432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“Never stopped my SIP even for one month. That's it. That's literally it. I just invested straight through the long flat period of 2018-19 and through COVID.”</a:t>
            </a:r>
          </a:p>
          <a:p>
            <a:r>
              <a:rPr sz="800">
                <a:solidFill>
                  <a:srgbClr val="5B6770"/>
                </a:solidFill>
              </a:rPr>
              <a:t>reddit · outcome=continues · stage=unknown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3484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17324D"/>
                </a:solidFill>
              </a:rPr>
              <a:t>“I will keep my SIPs running. My monthly investment is around 1% of my total portfolio value, so I reckon that stopping a SIP and waiting for a correction is actually not worth the effort”</a:t>
            </a:r>
          </a:p>
          <a:p>
            <a:r>
              <a:rPr sz="800">
                <a:solidFill>
                  <a:srgbClr val="5B6770"/>
                </a:solidFill>
              </a:rPr>
              <a:t>reddit · outcome=continues · stage=unknown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9893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6F5C"/>
                </a:solidFill>
              </a:rPr>
              <a:t>Fix: Celebrate goal progress and streak milestones without FOMO or urgency. A 'you stayed invested through...' recap that reinforces the identity, not the return.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SEGMENTS AND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Stage tells us where the conversation is, not who survives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stage_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2577"/>
            <a:ext cx="6492240" cy="28101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173736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Setup posts cluster around KYC, mandate, first debit, and first statement; most are questions, not resolved stops.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Later-stage posts include more resolved decisions about returns, goals, and 'is this still worth it?'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Stage is the point referenced in the post, not a cohort survival curve; do not read 0% at setup as safety.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Segment cues are sparse and self-reported; use them for hypotheses, not sizing. Triangulate sources.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Reach and lapse association point to different plays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opportun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0" y="1691640"/>
            <a:ext cx="64510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173736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Failed debits and mandate breakage: 18% reach, n/a lapse, score 71.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Can't stop or fix it: 11% reach, 89% lapse, score 66.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Cash-flow shocks and competing commitments: 4% reach, 100% lapse, score 52.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Which fund, which goal?: 2% reach, 100% lapse, score 43.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>
                <a:solidFill>
                  <a:srgbClr val="17324D"/>
                </a:solidFill>
                <a:latin typeface="Aptos"/>
              </a:rPr>
              <a:t>•  Unresolved themes carry a friction prior; the score is a prioritisation heuristic, not a causal effect.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RETENTION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Three horizons, nine interventions, zero fear-based nudges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20440" cy="416052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6F5C"/>
                </a:solidFill>
                <a:latin typeface="Aptos"/>
              </a:rPr>
              <a:t>0–30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Mandate health check before the first debit.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3-day pre-debit alert with one-tap repair.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First-statement explainer: XIRR, absolute return, and market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520440" cy="4160520"/>
          </a:xfrm>
          <a:prstGeom prst="rect">
            <a:avLst/>
          </a:prstGeom>
          <a:solidFill>
            <a:srgbClr val="DCEBE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6F5C"/>
                </a:solidFill>
                <a:latin typeface="Aptos"/>
              </a:rPr>
              <a:t>30–90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Pause 1–3 months with auto-resume, beside cancel.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Step-down amount and salary-cycle alignment.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Goal tagging and a plain-language 'what am I invested in'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83080"/>
            <a:ext cx="3520440" cy="416052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6F5C"/>
                </a:solidFill>
                <a:latin typeface="Aptos"/>
              </a:rPr>
              <a:t>90–365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Drawdown explainer framed as goal progress.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Two-missed-debit re-engagement with a human fallback.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Annual goal review and community stories, not FOMO.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Measure the 12-month habit, not the download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37360"/>
          <a:ext cx="115214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498079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Primary: 12-month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At least one successful instalment in the last 30 days, 12 months after the first SIP.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Monthly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Mandate recovery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Share of failed/at-risk mandates repaired before the next debit date.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Pause-to-resume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Share of paused SIPs that resume within 90 days.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Cancellation save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Share of cancellation intents that choose pause, step-down, or repair.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Support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Median time to resolve a SIP/mandate issue; share resolved in one touch.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Guardrails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Complaints, opt-outs, support load, mis-selling risk; no fear/FOMO/urgency copy.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7324D"/>
                          </a:solidFill>
                        </a:rPr>
                        <a:t>Continuous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What we trust, and what we are still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57800" cy="182880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6F5C"/>
                </a:solidFill>
                <a:latin typeface="Aptos"/>
              </a:rPr>
              <a:t>Quote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7324D"/>
                </a:solidFill>
              </a:rPr>
              <a:t>Every behavioural quote must be an exact substring. Fabricated or over-long quotes are rejected.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257800" cy="182880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476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6F5C"/>
                </a:solidFill>
                <a:latin typeface="Aptos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000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7324D"/>
                </a:solidFill>
              </a:rPr>
              <a:t>Deterministic rules check first-person actions, negations, attempts, payment stops, temporary pauses, and segment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257800" cy="182880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96511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6F5C"/>
                </a:solidFill>
                <a:latin typeface="Aptos"/>
              </a:rPr>
              <a:t>Gold set + kappa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9884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7324D"/>
                </a:solidFill>
              </a:rPr>
              <a:t>200-item evaluation set; second model on 100 items (all 80 resolved outcomes + relevance controls). relevance κ=0.81, outcome κ=0.94, theme κ=0.60. Kappa is agreement, not truth.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257800" cy="1828800"/>
          </a:xfrm>
          <a:prstGeom prst="rect">
            <a:avLst/>
          </a:prstGeom>
          <a:solidFill>
            <a:srgbClr val="F4F6F5"/>
          </a:solidFill>
          <a:ln>
            <a:solidFill>
              <a:srgbClr val="D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1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6F5C"/>
                </a:solidFill>
                <a:latin typeface="Aptos"/>
              </a:rPr>
              <a:t>Red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9884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7324D"/>
                </a:solidFill>
              </a:rPr>
              <a:t>15/15 red-team tests pass, including an end-to-end prompt-injection call. Known limitations remain.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What this evidence can and cannot tell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Public posts are self-selected; people with problems are more likely to post.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Self-reported outcomes are not the 12-month product metric.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Theme-lapse associations are correlational, not causal.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App reviews are short and often lack context; narrative sources carry more explanatory weight.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Hinglish and Indic-language coverage is limited; segment cues are sparse.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The corpus spans 2014–2026; platform and market conditions change over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Start with the two plays that remove a lapse the investor did not choose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Pilot 1: mandate rescue. Pre-debit health check, 3-day repair window, auto-retry, and a clear reason.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Pilot 2: pause-don't-stop. A 1–3 month pause with auto-resume, step-down, and salary-cycle alignment.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Instrument the 12-month metric and the pause-to-resume bridge before scaling.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Human-adjudicate the 30-item review queue, then expand to the full 200 before sizing; keep red team in CI.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>
                <a:solidFill>
                  <a:srgbClr val="17324D"/>
                </a:solidFill>
                <a:latin typeface="Aptos"/>
              </a:rPr>
              <a:t>•  Expand the narrative corpus (Reddit, forums, YouTube) before sizing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770"/>
                </a:solidFill>
                <a:latin typeface="Aptos"/>
              </a:rPr>
              <a:t>No specific funds or stocks. No fear, FOMO, or urgency-based nudges.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6F5C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Aptos"/>
              </a:rPr>
              <a:t>Sources, codebook, and reproduction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81328"/>
            <a:ext cx="1005840" cy="36576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INDmoney Growth · Public evidence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Sources: Play Store, App Store, Reddit, YouTube, ValuePickr, TradingQ&amp;A.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Codebook v0.2: triggers, behaviours, emotions, expectations, help-seeking, outcomes, segments.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Pipeline: collect → normalize → strict filter → LLM extract → quote verify → ground → quantify → validate.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Reproduce: collect_sample.py, extract_signals.py, analyze.py, export_evidence_log.py.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7324D"/>
                </a:solidFill>
                <a:latin typeface="Aptos"/>
              </a:rPr>
              <a:t>•  No internal analytics, CRM records, or primary interviews. Public data only.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83080"/>
          <a:ext cx="493776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0175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Signals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Lapse rate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reddit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play_store:Coin by Zerodha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app_store:Coin by Zerodha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play_store:Kuvera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38%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play_store:ET 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app_store:ET Money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app_store:Paytm 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play_store:Paytm Money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7324D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